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57" r:id="rId4"/>
    <p:sldId id="268" r:id="rId5"/>
    <p:sldId id="258" r:id="rId6"/>
    <p:sldId id="269" r:id="rId7"/>
    <p:sldId id="259" r:id="rId8"/>
    <p:sldId id="270" r:id="rId9"/>
    <p:sldId id="260" r:id="rId10"/>
    <p:sldId id="271" r:id="rId11"/>
    <p:sldId id="261" r:id="rId12"/>
    <p:sldId id="262" r:id="rId13"/>
    <p:sldId id="263" r:id="rId14"/>
    <p:sldId id="264" r:id="rId15"/>
    <p:sldId id="266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7"/>
    <p:restoredTop sz="94651"/>
  </p:normalViewPr>
  <p:slideViewPr>
    <p:cSldViewPr snapToGrid="0" snapToObjects="1">
      <p:cViewPr varScale="1">
        <p:scale>
          <a:sx n="127" d="100"/>
          <a:sy n="127" d="100"/>
        </p:scale>
        <p:origin x="18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460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80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283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22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www.vam.ac.uk</a:t>
            </a:r>
            <a:r>
              <a:rPr lang="en-US" dirty="0"/>
              <a:t>/blog/museum-life/vera-molnar-machine-imaginaire-the-dance-of-hands-and-machine-thinking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zachblas.info</a:t>
            </a:r>
            <a:r>
              <a:rPr lang="en-US" dirty="0"/>
              <a:t>/works/cultus/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6380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76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erry2/technomanticCodingWorksho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-43482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TECHNOMANTIC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 WORKSHOP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4009970"/>
            <a:ext cx="7680960" cy="649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&amp; Technology // Computation as Ritual</a:t>
            </a:r>
            <a:endParaRPr lang="en-US" i="1" dirty="0">
              <a:solidFill>
                <a:srgbClr val="777777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800" i="1" dirty="0" err="1">
                <a:solidFill>
                  <a:srgbClr val="777777"/>
                </a:solidFill>
                <a:latin typeface="Calibri" pitchFamily="34" charset="0"/>
                <a:cs typeface="Calibri" pitchFamily="34" charset="-120"/>
              </a:rPr>
              <a:t>Github</a:t>
            </a: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cs typeface="Calibri" pitchFamily="34" charset="-120"/>
              </a:rPr>
              <a:t> repo: </a:t>
            </a: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cs typeface="Calibri" pitchFamily="34" charset="-120"/>
                <a:hlinkClick r:id="rId3"/>
              </a:rPr>
              <a:t>https://github.com/aperry2/technomanticCodingWorkshop</a:t>
            </a:r>
            <a:endParaRPr lang="en-US" sz="1800" i="1" dirty="0">
              <a:solidFill>
                <a:srgbClr val="777777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3657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NMCS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754880"/>
            <a:ext cx="38404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min</a:t>
            </a:r>
            <a:endParaRPr lang="en-US" sz="1100" dirty="0"/>
          </a:p>
        </p:txBody>
      </p:sp>
      <p:pic>
        <p:nvPicPr>
          <p:cNvPr id="9" name="Picture 8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3A779534-D8E9-B994-6CED-F7E5C02369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58" y="1883864"/>
            <a:ext cx="1879600" cy="1879600"/>
          </a:xfrm>
          <a:prstGeom prst="rect">
            <a:avLst/>
          </a:prstGeom>
        </p:spPr>
      </p:pic>
      <p:pic>
        <p:nvPicPr>
          <p:cNvPr id="12" name="Picture 11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31A7AC53-399D-5B32-EE8A-3DE840DB31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544" y="1883864"/>
            <a:ext cx="1879600" cy="1879600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0EAB30E3-094D-C542-51D9-A491029683DD}"/>
              </a:ext>
            </a:extLst>
          </p:cNvPr>
          <p:cNvSpPr/>
          <p:nvPr/>
        </p:nvSpPr>
        <p:spPr>
          <a:xfrm>
            <a:off x="2751796" y="3436535"/>
            <a:ext cx="1267545" cy="3414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777777"/>
                </a:solidFill>
                <a:latin typeface="Calibri" pitchFamily="34" charset="0"/>
                <a:cs typeface="Calibri" pitchFamily="34" charset="-120"/>
              </a:rPr>
              <a:t>&lt;- GITHUB</a:t>
            </a:r>
            <a:endParaRPr lang="en-US" sz="1800" i="1" dirty="0">
              <a:solidFill>
                <a:srgbClr val="777777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D776AD3-E096-0390-49DA-40F85377339F}"/>
              </a:ext>
            </a:extLst>
          </p:cNvPr>
          <p:cNvSpPr/>
          <p:nvPr/>
        </p:nvSpPr>
        <p:spPr>
          <a:xfrm>
            <a:off x="5097251" y="1838011"/>
            <a:ext cx="1267545" cy="710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i="1" dirty="0">
                <a:solidFill>
                  <a:srgbClr val="777777"/>
                </a:solidFill>
                <a:latin typeface="Calibri" pitchFamily="34" charset="0"/>
                <a:cs typeface="Calibri" pitchFamily="34" charset="-120"/>
              </a:rPr>
              <a:t>BUSINESS</a:t>
            </a:r>
          </a:p>
          <a:p>
            <a:pPr marL="0" indent="0" algn="r">
              <a:buNone/>
            </a:pP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cs typeface="Calibri" pitchFamily="34" charset="-120"/>
              </a:rPr>
              <a:t>CARD -&gt;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GUIDED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0–10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&amp; theory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Technomancy, Cramer, Chun, Spare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10–20 min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18288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intent, reduce letters, draw sigil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2468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20–25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77440" y="2468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0 → 1: Threshold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sigil, adjust to find threshold cutoff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108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25–35 min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3108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2: Newtonian Hue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hue speed, saturation, color lock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1520" y="374904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1560" y="3749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35–45 min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77440" y="3749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3: Radial Symmetry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Segments, rotation, zoom, &amp; saving frames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31520" y="4389120"/>
            <a:ext cx="64008" cy="5029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5156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45–60 min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37744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&amp; discussion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0" y="4389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forgetting, authorship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64008" cy="201168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“utterance” of symbolic language (verbal or otherwise) that produces an effect.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ABRACADABRA — "I will create as I speak."</a:t>
            </a:r>
            <a:endParaRPr lang="en-US" sz="1200" dirty="0"/>
          </a:p>
        </p:txBody>
      </p:sp>
      <p:pic>
        <p:nvPicPr>
          <p:cNvPr id="1026" name="Picture 2" descr="Protective Magic: Say 'Abracadabra' - Hands-on Heritage">
            <a:extLst>
              <a:ext uri="{FF2B5EF4-FFF2-40B4-BE49-F238E27FC236}">
                <a16:creationId xmlns:a16="http://schemas.microsoft.com/office/drawing/2014/main" id="{1E361D5B-46F5-49B3-F254-C4A851BB2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2" y="1280160"/>
            <a:ext cx="3065673" cy="3083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64008" cy="201168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of the human.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Ernst Kapp's "organ projection” (1877)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McLuhan's "extension of human faculties” (1964)</a:t>
            </a:r>
            <a:endParaRPr lang="en-US" sz="1200" dirty="0"/>
          </a:p>
        </p:txBody>
      </p:sp>
      <p:pic>
        <p:nvPicPr>
          <p:cNvPr id="12" name="Picture 11" descr="A hand holding a stone axe&#10;&#10;Description automatically generated">
            <a:extLst>
              <a:ext uri="{FF2B5EF4-FFF2-40B4-BE49-F238E27FC236}">
                <a16:creationId xmlns:a16="http://schemas.microsoft.com/office/drawing/2014/main" id="{54AC3044-EC12-14E9-4574-89E22D5A6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93800"/>
            <a:ext cx="34417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861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25603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FLORIAN CRAMER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Made Flesh (2005)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Claim: Software is the first writing that literally does what it says.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Cramer traces a lineage from Kabbalistic letter permutation through Raymond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Llull’s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Magna 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executable code.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Executable language</a:t>
            </a:r>
            <a:endParaRPr lang="en-US" sz="11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DF3995-329A-6E00-3466-EC2353CDF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160" y="1201420"/>
            <a:ext cx="3520440" cy="2552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WENDY CHUN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Programmed Visions (2011)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functions through "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sourcery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”, or source code as sorcery. We trust code, but its execution is invisible. This faith mirrors magical practice.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Sourcery</a:t>
            </a:r>
            <a:endParaRPr lang="en-US" sz="1100" dirty="0"/>
          </a:p>
        </p:txBody>
      </p:sp>
      <p:pic>
        <p:nvPicPr>
          <p:cNvPr id="3074" name="Picture 2" descr="A photo of Wendy Chun FBA. Photo by Annette Hornischer">
            <a:extLst>
              <a:ext uri="{FF2B5EF4-FFF2-40B4-BE49-F238E27FC236}">
                <a16:creationId xmlns:a16="http://schemas.microsoft.com/office/drawing/2014/main" id="{B0417CFA-90F6-7071-54EF-BBCF330F9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88720"/>
            <a:ext cx="3294268" cy="3294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34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19"/>
            <a:ext cx="3039368" cy="2833023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94192" cy="2833022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VERA MOLNÁR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2493480" cy="1963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“Vera Molnár (born 1924), Hungarian artist and pioneer of computer art, used the term </a:t>
            </a:r>
            <a:r>
              <a:rPr lang="en-US" sz="1200" i="1" dirty="0">
                <a:solidFill>
                  <a:schemeClr val="bg1"/>
                </a:solidFill>
              </a:rPr>
              <a:t>machine </a:t>
            </a:r>
            <a:r>
              <a:rPr lang="en-US" sz="1200" i="1" dirty="0" err="1">
                <a:solidFill>
                  <a:schemeClr val="bg1"/>
                </a:solidFill>
              </a:rPr>
              <a:t>imaginaire</a:t>
            </a:r>
            <a:r>
              <a:rPr lang="en-US" sz="1200" dirty="0">
                <a:solidFill>
                  <a:schemeClr val="bg1"/>
                </a:solidFill>
              </a:rPr>
              <a:t> (imaginary machine) to express a shared visual language between the humanness of handwork and the precision of mathematical algorithms.”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	- Zarna Hart writing for the Victoria &amp; Albert Museum</a:t>
            </a:r>
          </a:p>
        </p:txBody>
      </p:sp>
      <p:pic>
        <p:nvPicPr>
          <p:cNvPr id="12" name="Picture 11" descr="A close-up of a drawing&#10;&#10;Description automatically generated">
            <a:extLst>
              <a:ext uri="{FF2B5EF4-FFF2-40B4-BE49-F238E27FC236}">
                <a16:creationId xmlns:a16="http://schemas.microsoft.com/office/drawing/2014/main" id="{CCB5D1F5-F914-5821-123A-C36F3F4C0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462" y="1001693"/>
            <a:ext cx="4993418" cy="2568614"/>
          </a:xfrm>
          <a:prstGeom prst="rect">
            <a:avLst/>
          </a:prstGeom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3E474B64-DF79-B631-E680-7213955B1607}"/>
              </a:ext>
            </a:extLst>
          </p:cNvPr>
          <p:cNvSpPr/>
          <p:nvPr/>
        </p:nvSpPr>
        <p:spPr>
          <a:xfrm>
            <a:off x="3996735" y="3570307"/>
            <a:ext cx="47627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Letters from my Mother, </a:t>
            </a:r>
            <a:r>
              <a:rPr lang="en-US" sz="1200" dirty="0">
                <a:solidFill>
                  <a:schemeClr val="bg1"/>
                </a:solidFill>
              </a:rPr>
              <a:t>Vera Molnár, 1988</a:t>
            </a:r>
            <a:endParaRPr lang="en-US" sz="1200" i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21945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64008" cy="2194560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ZACH BLAS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“CULTUS </a:t>
            </a:r>
            <a:r>
              <a:rPr lang="en-US" sz="1200" dirty="0">
                <a:solidFill>
                  <a:schemeClr val="bg1"/>
                </a:solidFill>
              </a:rPr>
              <a:t>(2023) is a multimedia installation that addresses a burgeoning AI religiosity in the tech industry. … </a:t>
            </a:r>
            <a:r>
              <a:rPr lang="en-US" sz="1200" i="1" dirty="0">
                <a:solidFill>
                  <a:schemeClr val="bg1"/>
                </a:solidFill>
              </a:rPr>
              <a:t>CULTUS</a:t>
            </a:r>
            <a:r>
              <a:rPr lang="en-US" sz="1200" dirty="0">
                <a:solidFill>
                  <a:schemeClr val="bg1"/>
                </a:solidFill>
              </a:rPr>
              <a:t> reconfigures the Elizabethan mathematician and occultist John Dee’s Holy Table, an esoteric device of sigils, seals, and a crystal ball, with which Dee communed with angels to gain access to God. “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BB7CAD7-22B4-476D-99D8-EE3B64610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51" y="1188720"/>
            <a:ext cx="3781298" cy="252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476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AUSTIN OSMAN SPARE  (1886–1956)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statement of desire or intent, remove repeating letters, and then recombine the remaining letterforms into an abstract symbol. Then forget the original intention.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Spare, the forgetting was crucial. He believed conscious fixation blocked realization. The sigil must bypass the conscious mind through moments of “gnosis”.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  <p:pic>
        <p:nvPicPr>
          <p:cNvPr id="6148" name="Picture 4" descr="Magical doodles">
            <a:extLst>
              <a:ext uri="{FF2B5EF4-FFF2-40B4-BE49-F238E27FC236}">
                <a16:creationId xmlns:a16="http://schemas.microsoft.com/office/drawing/2014/main" id="{23C771D3-C03B-CCC8-56EC-6868F193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30218"/>
            <a:ext cx="4139583" cy="3225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2968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COLOR AS MAGICAL SUBSTANCE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 PAVONIS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for "peacock’s tail”, in alchemy this is a momentary iridescence between albedo and rubedo in the stages of the alchemical Great Work. It represents all the colors prior to the final fixing of the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cycling hue mode references a computational cauda pavonis.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3749040" cy="31089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05840"/>
            <a:ext cx="64008" cy="310896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166360" y="1097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DD8855"/>
                </a:solidFill>
                <a:latin typeface="Georgia" pitchFamily="34" charset="0"/>
              </a:rPr>
              <a:t>MUSICA UNIVERSALIS</a:t>
            </a:r>
            <a:r>
              <a:rPr lang="en-US" sz="1100" b="1" kern="0" spc="100" dirty="0">
                <a:solidFill>
                  <a:srgbClr val="DD8855"/>
                </a:solidFill>
                <a:latin typeface="Georgia" pitchFamily="34" charset="0"/>
              </a:rPr>
              <a:t> CORRESPONDENCES</a:t>
            </a:r>
            <a:endParaRPr lang="en-US" sz="1100" i="1" dirty="0"/>
          </a:p>
        </p:txBody>
      </p:sp>
      <p:sp>
        <p:nvSpPr>
          <p:cNvPr id="9" name="Text 7"/>
          <p:cNvSpPr/>
          <p:nvPr/>
        </p:nvSpPr>
        <p:spPr>
          <a:xfrm>
            <a:off x="516636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72200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1228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66360" y="1792224"/>
            <a:ext cx="164592" cy="164592"/>
          </a:xfrm>
          <a:prstGeom prst="rect">
            <a:avLst/>
          </a:prstGeom>
          <a:solidFill>
            <a:srgbClr val="DD33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94960" y="1737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72200" y="1737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66360" y="2066544"/>
            <a:ext cx="164592" cy="164592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94960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12280" y="2011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66360" y="2340864"/>
            <a:ext cx="164592" cy="164592"/>
          </a:xfrm>
          <a:prstGeom prst="rect">
            <a:avLst/>
          </a:prstGeom>
          <a:solidFill>
            <a:srgbClr val="DDCC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94960" y="22860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7220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12280" y="2286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2615184"/>
            <a:ext cx="164592" cy="164592"/>
          </a:xfrm>
          <a:prstGeom prst="rect">
            <a:avLst/>
          </a:prstGeom>
          <a:solidFill>
            <a:srgbClr val="44BB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94960" y="2560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2560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1228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166360" y="2889504"/>
            <a:ext cx="164592" cy="164592"/>
          </a:xfrm>
          <a:prstGeom prst="rect">
            <a:avLst/>
          </a:prstGeom>
          <a:solidFill>
            <a:srgbClr val="4488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9496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72200" y="2834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1228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Jupiter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66360" y="3163824"/>
            <a:ext cx="164592" cy="164592"/>
          </a:xfrm>
          <a:prstGeom prst="rect">
            <a:avLst/>
          </a:prstGeom>
          <a:solidFill>
            <a:srgbClr val="664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94960" y="3108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7220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12280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166360" y="3438144"/>
            <a:ext cx="164592" cy="164592"/>
          </a:xfrm>
          <a:prstGeom prst="rect">
            <a:avLst/>
          </a:prstGeom>
          <a:solidFill>
            <a:srgbClr val="99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94960" y="3383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7220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12280" y="3383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NIGREDO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solidFill>
            <a:srgbClr val="E8E8E8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solidFill>
            <a:srgbClr val="D4A574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 PAVONIS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solidFill>
            <a:srgbClr val="CC3333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OPERATION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64008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a desire and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a clear statement.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88920" y="1280160"/>
            <a:ext cx="1828800" cy="64008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889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9260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statement into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symbol or glyph.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64008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“Rescan” the sigil through the webcam and toolkit to operate on the image.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03720" y="1280160"/>
            <a:ext cx="1828800" cy="64008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037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0408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output for use as a digital talisman.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MODES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FEED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49040" y="1188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Unprocessed input. Frame your sigil.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2103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21031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black/white. The image becomes decisive.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30175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17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NEWTONIAN HUE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490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+ cycling color from Newton’s 7-tone spectrum.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9319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9319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RADIAL SYMMETRY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Mandala-like mirroring. Sacred geometry on the sigil.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CONTROLS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57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58039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0 1 2 3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135803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769519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76951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active 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180999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/ 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18099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active parameter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592479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/ RIGHT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59247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segments ±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003959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0395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invert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415439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341543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input source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826919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382691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frame as 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1005840"/>
            <a:ext cx="3657600" cy="35661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937760" y="1005840"/>
            <a:ext cx="64008" cy="356616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25780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PARAMETERS  (TAB to select) + DEFAULTS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1508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1508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6092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cutoff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57800" y="1965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HUE SPEED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75120" y="1965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19659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cycle rate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5780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2423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2423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intensity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57800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LOCK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28803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60920" y="2880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to one color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57800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 SPEED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3337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rotation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57800" y="3794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ZOOM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75120" y="3794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60920" y="3794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zoom</a:t>
            </a:r>
            <a:endParaRPr lang="en-US" sz="100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9C866597-1BF8-019E-7499-42AC9288F7C1}"/>
              </a:ext>
            </a:extLst>
          </p:cNvPr>
          <p:cNvSpPr/>
          <p:nvPr/>
        </p:nvSpPr>
        <p:spPr>
          <a:xfrm>
            <a:off x="731520" y="422533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cs typeface="Consolas" pitchFamily="34" charset="-120"/>
              </a:rPr>
              <a:t>t</a:t>
            </a:r>
            <a:endParaRPr lang="en-US" sz="11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DFAF5EEE-C133-0755-EA88-ECADD9EA888A}"/>
              </a:ext>
            </a:extLst>
          </p:cNvPr>
          <p:cNvSpPr/>
          <p:nvPr/>
        </p:nvSpPr>
        <p:spPr>
          <a:xfrm>
            <a:off x="2286000" y="4238399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HUD display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REFLECTION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834640" y="1097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sigil ever stop feeling like "yours"? When?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FORGETTING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828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parameter-tweaking displace your focus from the original intention?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RITUAL &amp; RUPTURE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25603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computation an extension of a ritual, or a break from it?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15468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AUTHORSHIP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authorship: intention, hand, algorithm, or machine?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4023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computational step extend human faculty or overwrite human faculty?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SUGGESTED READINGS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Florian Cramer, Words Made Flesh (2005)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Wendy Chun, Programmed Visions (2011)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Osman Spare, The Book of Pleasure (1913)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 Hine, Condensed Chaos (1995)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76809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TECHNOMANTIC CODING WORKSHOP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944</Words>
  <Application>Microsoft Macintosh PowerPoint</Application>
  <PresentationFormat>On-screen Show (16:9)</PresentationFormat>
  <Paragraphs>208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Technomantic Coding Workshop</dc:title>
  <dc:subject>PptxGenJS Presentation</dc:subject>
  <dc:creator>Alan Perry</dc:creator>
  <cp:lastModifiedBy>Alan Perry</cp:lastModifiedBy>
  <cp:revision>6</cp:revision>
  <dcterms:created xsi:type="dcterms:W3CDTF">2026-03-06T12:55:16Z</dcterms:created>
  <dcterms:modified xsi:type="dcterms:W3CDTF">2026-03-08T16:16:55Z</dcterms:modified>
</cp:coreProperties>
</file>