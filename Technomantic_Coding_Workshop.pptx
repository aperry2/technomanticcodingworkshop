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65" r:id="rId3"/>
    <p:sldId id="257" r:id="rId4"/>
    <p:sldId id="268" r:id="rId5"/>
    <p:sldId id="258" r:id="rId6"/>
    <p:sldId id="269" r:id="rId7"/>
    <p:sldId id="259" r:id="rId8"/>
    <p:sldId id="270" r:id="rId9"/>
    <p:sldId id="260" r:id="rId10"/>
    <p:sldId id="271" r:id="rId11"/>
    <p:sldId id="261" r:id="rId12"/>
    <p:sldId id="262" r:id="rId13"/>
    <p:sldId id="263" r:id="rId14"/>
    <p:sldId id="264" r:id="rId15"/>
    <p:sldId id="266" r:id="rId16"/>
    <p:sldId id="267" r:id="rId1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67"/>
    <p:restoredTop sz="94651"/>
  </p:normalViewPr>
  <p:slideViewPr>
    <p:cSldViewPr snapToGrid="0" snapToObjects="1">
      <p:cViewPr varScale="1">
        <p:scale>
          <a:sx n="127" d="100"/>
          <a:sy n="127" d="100"/>
        </p:scale>
        <p:origin x="184" y="4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89" d="100"/>
          <a:sy n="89" d="100"/>
        </p:scale>
        <p:origin x="4608" y="184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180834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728300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922490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</a:t>
            </a:r>
            <a:r>
              <a:rPr lang="en-US" dirty="0" err="1"/>
              <a:t>www.vam.ac.uk</a:t>
            </a:r>
            <a:r>
              <a:rPr lang="en-US" dirty="0"/>
              <a:t>/blog/museum-life/vera-molnar-machine-imaginaire-the-dance-of-hands-and-machine-thinking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</a:t>
            </a:r>
            <a:r>
              <a:rPr lang="en-US" dirty="0" err="1"/>
              <a:t>zachblas.info</a:t>
            </a:r>
            <a:r>
              <a:rPr lang="en-US" dirty="0"/>
              <a:t>/works/cultus/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663801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943763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perry2/technomanticCodingWorkshop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C44C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31520" y="-43482"/>
            <a:ext cx="768096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4400" b="1" kern="0" spc="200" dirty="0">
                <a:solidFill>
                  <a:srgbClr val="E8E8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TECHNOMANTIC</a:t>
            </a:r>
            <a:endParaRPr lang="en-US" sz="44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4400" b="1" kern="0" spc="200" dirty="0">
                <a:solidFill>
                  <a:srgbClr val="E8E8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CODING WORKSHOP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731520" y="3279140"/>
            <a:ext cx="7680960" cy="10284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Magic &amp; Technology // Computation as Ritual</a:t>
            </a:r>
          </a:p>
          <a:p>
            <a:pPr marL="0" indent="0">
              <a:buNone/>
            </a:pPr>
            <a:endParaRPr lang="en-US" i="1" dirty="0">
              <a:solidFill>
                <a:srgbClr val="777777"/>
              </a:solidFill>
              <a:latin typeface="Calibri" pitchFamily="34" charset="0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800" i="1" dirty="0" err="1">
                <a:solidFill>
                  <a:srgbClr val="777777"/>
                </a:solidFill>
                <a:latin typeface="Calibri" pitchFamily="34" charset="0"/>
                <a:cs typeface="Calibri" pitchFamily="34" charset="-120"/>
              </a:rPr>
              <a:t>Github</a:t>
            </a:r>
            <a:r>
              <a:rPr lang="en-US" sz="1800" i="1" dirty="0">
                <a:solidFill>
                  <a:srgbClr val="777777"/>
                </a:solidFill>
                <a:latin typeface="Calibri" pitchFamily="34" charset="0"/>
                <a:cs typeface="Calibri" pitchFamily="34" charset="-120"/>
              </a:rPr>
              <a:t> repo: </a:t>
            </a:r>
            <a:r>
              <a:rPr lang="en-US" sz="1800" i="1" dirty="0">
                <a:solidFill>
                  <a:srgbClr val="777777"/>
                </a:solidFill>
                <a:latin typeface="Calibri" pitchFamily="34" charset="0"/>
                <a:cs typeface="Calibri" pitchFamily="34" charset="-120"/>
                <a:hlinkClick r:id="rId3"/>
              </a:rPr>
              <a:t>https://github.com/aperry2/technomanticCodingWorkshop</a:t>
            </a:r>
            <a:endParaRPr lang="en-US" sz="1800" i="1" dirty="0">
              <a:solidFill>
                <a:srgbClr val="777777"/>
              </a:solidFill>
              <a:latin typeface="Calibri" pitchFamily="34" charset="0"/>
              <a:cs typeface="Calibri" pitchFamily="34" charset="-120"/>
            </a:endParaRPr>
          </a:p>
        </p:txBody>
      </p:sp>
      <p:sp>
        <p:nvSpPr>
          <p:cNvPr id="5" name="Shape 3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6161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31520" y="4754880"/>
            <a:ext cx="3657600" cy="3886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NMCS 2026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0" y="4754880"/>
            <a:ext cx="3840480" cy="3886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~60 min</a:t>
            </a:r>
            <a:endParaRPr lang="en-US" sz="1100" dirty="0"/>
          </a:p>
        </p:txBody>
      </p:sp>
      <p:pic>
        <p:nvPicPr>
          <p:cNvPr id="9" name="Picture 8" descr="A qr code on a white background&#10;&#10;Description automatically generated">
            <a:extLst>
              <a:ext uri="{FF2B5EF4-FFF2-40B4-BE49-F238E27FC236}">
                <a16:creationId xmlns:a16="http://schemas.microsoft.com/office/drawing/2014/main" id="{3A779534-D8E9-B994-6CED-F7E5C02369D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2880" y="1913756"/>
            <a:ext cx="1879600" cy="18796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kern="0" spc="100" dirty="0">
                <a:solidFill>
                  <a:srgbClr val="AAFF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// GUIDED WORKFLOW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31520" y="1188720"/>
            <a:ext cx="7680960" cy="502920"/>
          </a:xfrm>
          <a:prstGeom prst="rect">
            <a:avLst/>
          </a:prstGeom>
          <a:solidFill>
            <a:srgbClr val="16161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731520" y="1188720"/>
            <a:ext cx="64008" cy="502920"/>
          </a:xfrm>
          <a:prstGeom prst="rect">
            <a:avLst/>
          </a:prstGeom>
          <a:solidFill>
            <a:srgbClr val="CC44C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51560" y="118872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C44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0–10 min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2377440" y="118872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8E8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Introduction &amp; theory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029200" y="118872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Technomancy, Cramer, Chun, Spare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731520" y="1828800"/>
            <a:ext cx="7680960" cy="502920"/>
          </a:xfrm>
          <a:prstGeom prst="rect">
            <a:avLst/>
          </a:prstGeom>
          <a:solidFill>
            <a:srgbClr val="16161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731520" y="1828800"/>
            <a:ext cx="64008" cy="502920"/>
          </a:xfrm>
          <a:prstGeom prst="rect">
            <a:avLst/>
          </a:prstGeom>
          <a:solidFill>
            <a:srgbClr val="CC44C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1051560" y="182880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C44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10–20 min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377440" y="182880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8E8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Sigilization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029200" y="182880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intent, reduce letters, draw sigil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31520" y="2468880"/>
            <a:ext cx="7680960" cy="502920"/>
          </a:xfrm>
          <a:prstGeom prst="rect">
            <a:avLst/>
          </a:prstGeom>
          <a:solidFill>
            <a:srgbClr val="16161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731520" y="2468880"/>
            <a:ext cx="64008" cy="502920"/>
          </a:xfrm>
          <a:prstGeom prst="rect">
            <a:avLst/>
          </a:prstGeom>
          <a:solidFill>
            <a:srgbClr val="AAFF6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1051560" y="246888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AAFF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20–25 min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2377440" y="246888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8E8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 0 → 1: Threshold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029200" y="246888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 sigil, adjust to find threshold cutoff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31520" y="3108960"/>
            <a:ext cx="7680960" cy="502920"/>
          </a:xfrm>
          <a:prstGeom prst="rect">
            <a:avLst/>
          </a:prstGeom>
          <a:solidFill>
            <a:srgbClr val="16161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731520" y="3108960"/>
            <a:ext cx="64008" cy="502920"/>
          </a:xfrm>
          <a:prstGeom prst="rect">
            <a:avLst/>
          </a:prstGeom>
          <a:solidFill>
            <a:srgbClr val="AAFF6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1051560" y="310896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AAFF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25–35 min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2377440" y="310896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8E8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 2: Newtonian Hue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029200" y="310896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 hue speed, saturation, color lock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731520" y="3749040"/>
            <a:ext cx="7680960" cy="502920"/>
          </a:xfrm>
          <a:prstGeom prst="rect">
            <a:avLst/>
          </a:prstGeom>
          <a:solidFill>
            <a:srgbClr val="16161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731520" y="3749040"/>
            <a:ext cx="64008" cy="502920"/>
          </a:xfrm>
          <a:prstGeom prst="rect">
            <a:avLst/>
          </a:prstGeom>
          <a:solidFill>
            <a:srgbClr val="AAFF6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1051560" y="374904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AAFF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35–45 min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2377440" y="374904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8E8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 3: Radial Symmetry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5029200" y="374904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Segments, rotation, zoom, &amp; saving frames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731520" y="4389120"/>
            <a:ext cx="7680960" cy="502920"/>
          </a:xfrm>
          <a:prstGeom prst="rect">
            <a:avLst/>
          </a:prstGeom>
          <a:solidFill>
            <a:srgbClr val="16161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731520" y="4389120"/>
            <a:ext cx="64008" cy="502920"/>
          </a:xfrm>
          <a:prstGeom prst="rect">
            <a:avLst/>
          </a:prstGeom>
          <a:solidFill>
            <a:srgbClr val="DD885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1051560" y="438912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DD88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45–60 min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2377440" y="438912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8E8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Reflection &amp; discussion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5029200" y="438912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Ownership, forgetting, authorship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kern="0" spc="100" dirty="0">
                <a:solidFill>
                  <a:srgbClr val="AAFF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// WHAT IS TECHNOMANTIC CODING?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31520" y="1280160"/>
            <a:ext cx="3657600" cy="2011680"/>
          </a:xfrm>
          <a:prstGeom prst="rect">
            <a:avLst/>
          </a:prstGeom>
          <a:solidFill>
            <a:srgbClr val="161616"/>
          </a:solidFill>
          <a:ln/>
          <a:effectLst>
            <a:outerShdw blurRad="1016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731520" y="1280160"/>
            <a:ext cx="64008" cy="2011680"/>
          </a:xfrm>
          <a:prstGeom prst="rect">
            <a:avLst/>
          </a:prstGeom>
          <a:solidFill>
            <a:srgbClr val="CC44C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51560" y="14173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CC44C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MAGIC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051560" y="1783080"/>
            <a:ext cx="3154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“utterance” of symbolic language (verbal or otherwise) that produces an effect.</a:t>
            </a: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ABRACADABRA — "I will create as I speak."</a:t>
            </a:r>
            <a:endParaRPr lang="en-US" sz="1200" dirty="0"/>
          </a:p>
        </p:txBody>
      </p:sp>
      <p:pic>
        <p:nvPicPr>
          <p:cNvPr id="1026" name="Picture 2" descr="Protective Magic: Say 'Abracadabra' - Hands-on Heritage">
            <a:extLst>
              <a:ext uri="{FF2B5EF4-FFF2-40B4-BE49-F238E27FC236}">
                <a16:creationId xmlns:a16="http://schemas.microsoft.com/office/drawing/2014/main" id="{1E361D5B-46F5-49B3-F254-C4A851BB252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54882" y="1280160"/>
            <a:ext cx="3065673" cy="30837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kern="0" spc="100" dirty="0">
                <a:solidFill>
                  <a:srgbClr val="AAFF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// WHAT IS TECHNOMANTIC CODING?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4754880" y="1280160"/>
            <a:ext cx="3657600" cy="2011680"/>
          </a:xfrm>
          <a:prstGeom prst="rect">
            <a:avLst/>
          </a:prstGeom>
          <a:solidFill>
            <a:srgbClr val="161616"/>
          </a:solidFill>
          <a:ln/>
          <a:effectLst>
            <a:outerShdw blurRad="1016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4754880" y="1280160"/>
            <a:ext cx="64008" cy="2011680"/>
          </a:xfrm>
          <a:prstGeom prst="rect">
            <a:avLst/>
          </a:prstGeom>
          <a:solidFill>
            <a:srgbClr val="DD885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5074920" y="14173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DD885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TECHNOLOGY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074920" y="1783080"/>
            <a:ext cx="3154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extension of the human.</a:t>
            </a: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Ernst Kapp's "organ projection” (1877)</a:t>
            </a:r>
          </a:p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McLuhan's "extension of human faculties” (1964)</a:t>
            </a:r>
            <a:endParaRPr lang="en-US" sz="1200" dirty="0"/>
          </a:p>
        </p:txBody>
      </p:sp>
      <p:pic>
        <p:nvPicPr>
          <p:cNvPr id="12" name="Picture 11" descr="A hand holding a stone axe&#10;&#10;Description automatically generated">
            <a:extLst>
              <a:ext uri="{FF2B5EF4-FFF2-40B4-BE49-F238E27FC236}">
                <a16:creationId xmlns:a16="http://schemas.microsoft.com/office/drawing/2014/main" id="{54AC3044-EC12-14E9-4574-89E22D5A69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1193800"/>
            <a:ext cx="3441700" cy="2755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48613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kern="0" spc="100" dirty="0">
                <a:solidFill>
                  <a:srgbClr val="AAFF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// THEORISTS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31520" y="1188720"/>
            <a:ext cx="3657600" cy="2560320"/>
          </a:xfrm>
          <a:prstGeom prst="rect">
            <a:avLst/>
          </a:prstGeom>
          <a:solidFill>
            <a:srgbClr val="161616"/>
          </a:solidFill>
          <a:ln/>
          <a:effectLst>
            <a:outerShdw blurRad="1016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731520" y="1188720"/>
            <a:ext cx="64008" cy="2560320"/>
          </a:xfrm>
          <a:prstGeom prst="rect">
            <a:avLst/>
          </a:prstGeom>
          <a:solidFill>
            <a:srgbClr val="CC44C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51560" y="13258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C44C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FLORIAN CRAMER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51560" y="16459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Words Made Flesh (2005)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051560" y="2011680"/>
            <a:ext cx="3154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Claim: Software is the first writing that literally does what it says.</a:t>
            </a:r>
          </a:p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Cramer traces a lineage from Kabbalistic letter permutation through Raymond </a:t>
            </a:r>
            <a:r>
              <a:rPr lang="en-US" sz="1200" dirty="0" err="1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Llull’s</a:t>
            </a:r>
            <a:r>
              <a:rPr lang="en-US" sz="12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i="1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Ars Magna </a:t>
            </a:r>
            <a:r>
              <a:rPr lang="en-US" sz="12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executable code.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51560" y="3200400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C4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Key: Executable language</a:t>
            </a:r>
            <a:endParaRPr lang="en-US" sz="1100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BDDF3995-329A-6E00-3466-EC2353CDF8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09160" y="1201420"/>
            <a:ext cx="3520440" cy="25523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kern="0" spc="100" dirty="0">
                <a:solidFill>
                  <a:srgbClr val="AAFF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// THEORISTS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4754880" y="1188720"/>
            <a:ext cx="3657600" cy="2560320"/>
          </a:xfrm>
          <a:prstGeom prst="rect">
            <a:avLst/>
          </a:prstGeom>
          <a:solidFill>
            <a:srgbClr val="161616"/>
          </a:solidFill>
          <a:ln/>
          <a:effectLst>
            <a:outerShdw blurRad="1016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754880" y="1188720"/>
            <a:ext cx="64008" cy="2560320"/>
          </a:xfrm>
          <a:prstGeom prst="rect">
            <a:avLst/>
          </a:prstGeom>
          <a:solidFill>
            <a:srgbClr val="DD885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074920" y="13258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DD885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WENDY CHUN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074920" y="16459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Programmed Visions (2011)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74920" y="2011680"/>
            <a:ext cx="3154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functions through "</a:t>
            </a:r>
            <a:r>
              <a:rPr lang="en-US" sz="1200" dirty="0" err="1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sourcery</a:t>
            </a:r>
            <a:r>
              <a:rPr lang="en-US" sz="12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”, or source code as sorcery. We trust code, but its execution is invisible. This faith mirrors magical practice.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074920" y="3200400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DD88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Key: Sourcery</a:t>
            </a:r>
            <a:endParaRPr lang="en-US" sz="1100" dirty="0"/>
          </a:p>
        </p:txBody>
      </p:sp>
      <p:pic>
        <p:nvPicPr>
          <p:cNvPr id="3074" name="Picture 2" descr="A photo of Wendy Chun FBA. Photo by Annette Hornischer">
            <a:extLst>
              <a:ext uri="{FF2B5EF4-FFF2-40B4-BE49-F238E27FC236}">
                <a16:creationId xmlns:a16="http://schemas.microsoft.com/office/drawing/2014/main" id="{B0417CFA-90F6-7071-54EF-BBCF330F9C1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1520" y="1188720"/>
            <a:ext cx="3294268" cy="32942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793470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kern="0" spc="100" dirty="0">
                <a:solidFill>
                  <a:srgbClr val="AAFF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// ARTISTS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31520" y="1188719"/>
            <a:ext cx="3039368" cy="2833023"/>
          </a:xfrm>
          <a:prstGeom prst="rect">
            <a:avLst/>
          </a:prstGeom>
          <a:solidFill>
            <a:srgbClr val="161616"/>
          </a:solidFill>
          <a:ln/>
          <a:effectLst>
            <a:outerShdw blurRad="1016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731520" y="1188720"/>
            <a:ext cx="94192" cy="2833022"/>
          </a:xfrm>
          <a:prstGeom prst="rect">
            <a:avLst/>
          </a:prstGeom>
          <a:solidFill>
            <a:srgbClr val="AAFF6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51560" y="13258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AAFF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VERA MOLNÁR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51560" y="1783080"/>
            <a:ext cx="2493480" cy="19635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chemeClr val="bg1"/>
                </a:solidFill>
              </a:rPr>
              <a:t>“Vera Molnár (born 1924), Hungarian artist and pioneer of computer art, used the term </a:t>
            </a:r>
            <a:r>
              <a:rPr lang="en-US" sz="1200" i="1" dirty="0">
                <a:solidFill>
                  <a:schemeClr val="bg1"/>
                </a:solidFill>
              </a:rPr>
              <a:t>machine </a:t>
            </a:r>
            <a:r>
              <a:rPr lang="en-US" sz="1200" i="1" dirty="0" err="1">
                <a:solidFill>
                  <a:schemeClr val="bg1"/>
                </a:solidFill>
              </a:rPr>
              <a:t>imaginaire</a:t>
            </a:r>
            <a:r>
              <a:rPr lang="en-US" sz="1200" dirty="0">
                <a:solidFill>
                  <a:schemeClr val="bg1"/>
                </a:solidFill>
              </a:rPr>
              <a:t> (imaginary machine) to express a shared visual language between the humanness of handwork and the precision of mathematical algorithms.”</a:t>
            </a:r>
          </a:p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chemeClr val="bg1"/>
                </a:solidFill>
              </a:rPr>
              <a:t>	- Zarna Hart writing for the Victoria &amp; Albert Museum</a:t>
            </a:r>
          </a:p>
        </p:txBody>
      </p:sp>
      <p:pic>
        <p:nvPicPr>
          <p:cNvPr id="12" name="Picture 11" descr="A close-up of a drawing&#10;&#10;Description automatically generated">
            <a:extLst>
              <a:ext uri="{FF2B5EF4-FFF2-40B4-BE49-F238E27FC236}">
                <a16:creationId xmlns:a16="http://schemas.microsoft.com/office/drawing/2014/main" id="{CCB5D1F5-F914-5821-123A-C36F3F4C02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11462" y="1001693"/>
            <a:ext cx="4993418" cy="2568614"/>
          </a:xfrm>
          <a:prstGeom prst="rect">
            <a:avLst/>
          </a:prstGeom>
        </p:spPr>
      </p:pic>
      <p:sp>
        <p:nvSpPr>
          <p:cNvPr id="15" name="Text 4">
            <a:extLst>
              <a:ext uri="{FF2B5EF4-FFF2-40B4-BE49-F238E27FC236}">
                <a16:creationId xmlns:a16="http://schemas.microsoft.com/office/drawing/2014/main" id="{3E474B64-DF79-B631-E680-7213955B1607}"/>
              </a:ext>
            </a:extLst>
          </p:cNvPr>
          <p:cNvSpPr/>
          <p:nvPr/>
        </p:nvSpPr>
        <p:spPr>
          <a:xfrm>
            <a:off x="3996735" y="3570307"/>
            <a:ext cx="4762703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i="1" dirty="0">
                <a:solidFill>
                  <a:schemeClr val="bg1"/>
                </a:solidFill>
              </a:rPr>
              <a:t>Letters from my Mother, </a:t>
            </a:r>
            <a:r>
              <a:rPr lang="en-US" sz="1200" dirty="0">
                <a:solidFill>
                  <a:schemeClr val="bg1"/>
                </a:solidFill>
              </a:rPr>
              <a:t>Vera Molnár, 1988</a:t>
            </a:r>
            <a:endParaRPr lang="en-US" sz="1200" i="1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kern="0" spc="100" dirty="0">
                <a:solidFill>
                  <a:srgbClr val="AAFF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// ARTISTS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4754880" y="1188720"/>
            <a:ext cx="3657600" cy="2194560"/>
          </a:xfrm>
          <a:prstGeom prst="rect">
            <a:avLst/>
          </a:prstGeom>
          <a:solidFill>
            <a:srgbClr val="161616"/>
          </a:solidFill>
          <a:ln/>
          <a:effectLst>
            <a:outerShdw blurRad="1016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8" name="Shape 6"/>
          <p:cNvSpPr/>
          <p:nvPr/>
        </p:nvSpPr>
        <p:spPr>
          <a:xfrm>
            <a:off x="4754880" y="1188720"/>
            <a:ext cx="64008" cy="2194560"/>
          </a:xfrm>
          <a:prstGeom prst="rect">
            <a:avLst/>
          </a:prstGeom>
          <a:solidFill>
            <a:srgbClr val="AAFFE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5074920" y="13258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AAFF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ZACH BLAS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074920" y="1783080"/>
            <a:ext cx="3154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i="1" dirty="0">
                <a:solidFill>
                  <a:schemeClr val="bg1"/>
                </a:solidFill>
              </a:rPr>
              <a:t>“CULTUS </a:t>
            </a:r>
            <a:r>
              <a:rPr lang="en-US" sz="1200" dirty="0">
                <a:solidFill>
                  <a:schemeClr val="bg1"/>
                </a:solidFill>
              </a:rPr>
              <a:t>(2023) is a multimedia installation that addresses a burgeoning AI religiosity in the tech industry. … </a:t>
            </a:r>
            <a:r>
              <a:rPr lang="en-US" sz="1200" i="1" dirty="0">
                <a:solidFill>
                  <a:schemeClr val="bg1"/>
                </a:solidFill>
              </a:rPr>
              <a:t>CULTUS</a:t>
            </a:r>
            <a:r>
              <a:rPr lang="en-US" sz="1200" dirty="0">
                <a:solidFill>
                  <a:schemeClr val="bg1"/>
                </a:solidFill>
              </a:rPr>
              <a:t> reconfigures the Elizabethan mathematician and occultist John Dee’s Holy Table, an esoteric device of sigils, seals, and a crystal ball, with which Dee communed with angels to gain access to God. “</a:t>
            </a:r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5BB7CAD7-22B4-476D-99D8-EE3B646107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7551" y="1188720"/>
            <a:ext cx="3781298" cy="25234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547634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kern="0" spc="100" dirty="0">
                <a:solidFill>
                  <a:srgbClr val="AAFF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// CHAOS MAGIC &amp; SIGILS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731520" y="109728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C44C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AUSTIN OSMAN SPARE  (1886–1956)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731520" y="1600200"/>
            <a:ext cx="502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a statement of desire or intent, remove repeating letters, and then recombine the remaining letterforms into an abstract symbol. Then forget the original intention.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2788920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300" i="1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Spare, the forgetting was crucial. He believed conscious fixation blocked realization. The sigil must bypass the conscious mind through moments of “gnosis”.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217920" y="1463040"/>
            <a:ext cx="2377440" cy="2560320"/>
          </a:xfrm>
          <a:prstGeom prst="rect">
            <a:avLst/>
          </a:prstGeom>
          <a:solidFill>
            <a:srgbClr val="161616"/>
          </a:solidFill>
          <a:ln/>
          <a:effectLst>
            <a:outerShdw blurRad="1016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6217920" y="1463040"/>
            <a:ext cx="64008" cy="2560320"/>
          </a:xfrm>
          <a:prstGeom prst="rect">
            <a:avLst/>
          </a:prstGeom>
          <a:solidFill>
            <a:srgbClr val="DD885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492240" y="1600200"/>
            <a:ext cx="19202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60000"/>
              </a:lnSpc>
              <a:buNone/>
            </a:pPr>
            <a:r>
              <a:rPr lang="en-US" sz="1100" b="1" dirty="0">
                <a:solidFill>
                  <a:srgbClr val="DD88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</a:t>
            </a:r>
            <a:endParaRPr lang="en-US" sz="1100" dirty="0"/>
          </a:p>
          <a:p>
            <a:pPr marL="0" indent="0">
              <a:lnSpc>
                <a:spcPct val="160000"/>
              </a:lnSpc>
              <a:buNone/>
            </a:pPr>
            <a:endParaRPr lang="en-US" sz="1100" dirty="0"/>
          </a:p>
          <a:p>
            <a:pPr marL="0" indent="0">
              <a:lnSpc>
                <a:spcPct val="160000"/>
              </a:lnSpc>
              <a:buNone/>
            </a:pPr>
            <a:r>
              <a:rPr lang="en-US" sz="11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Statement of intent</a:t>
            </a:r>
            <a:endParaRPr lang="en-US" sz="1100" dirty="0"/>
          </a:p>
          <a:p>
            <a:pPr marL="0" indent="0">
              <a:lnSpc>
                <a:spcPct val="160000"/>
              </a:lnSpc>
              <a:buNone/>
            </a:pPr>
            <a:r>
              <a:rPr lang="en-US" sz="11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Remove duplicate letters</a:t>
            </a:r>
            <a:endParaRPr lang="en-US" sz="1100" dirty="0"/>
          </a:p>
          <a:p>
            <a:pPr marL="0" indent="0">
              <a:lnSpc>
                <a:spcPct val="160000"/>
              </a:lnSpc>
              <a:buNone/>
            </a:pPr>
            <a:r>
              <a:rPr lang="en-US" sz="11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Combine into symbol</a:t>
            </a:r>
            <a:endParaRPr lang="en-US" sz="1100" dirty="0"/>
          </a:p>
          <a:p>
            <a:pPr marL="0" indent="0">
              <a:lnSpc>
                <a:spcPct val="160000"/>
              </a:lnSpc>
              <a:buNone/>
            </a:pPr>
            <a:r>
              <a:rPr lang="en-US" sz="11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Capture as input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kern="0" spc="100" dirty="0">
                <a:solidFill>
                  <a:srgbClr val="AAFF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// CHAOS MAGIC &amp; SIGILS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6217920" y="1463040"/>
            <a:ext cx="2377440" cy="2560320"/>
          </a:xfrm>
          <a:prstGeom prst="rect">
            <a:avLst/>
          </a:prstGeom>
          <a:solidFill>
            <a:srgbClr val="161616"/>
          </a:solidFill>
          <a:ln/>
          <a:effectLst>
            <a:outerShdw blurRad="1016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6217920" y="1463040"/>
            <a:ext cx="64008" cy="2560320"/>
          </a:xfrm>
          <a:prstGeom prst="rect">
            <a:avLst/>
          </a:prstGeom>
          <a:solidFill>
            <a:srgbClr val="DD885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492240" y="1600200"/>
            <a:ext cx="19202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60000"/>
              </a:lnSpc>
              <a:buNone/>
            </a:pPr>
            <a:r>
              <a:rPr lang="en-US" sz="1100" b="1" dirty="0">
                <a:solidFill>
                  <a:srgbClr val="DD88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</a:t>
            </a:r>
            <a:endParaRPr lang="en-US" sz="1100" dirty="0"/>
          </a:p>
          <a:p>
            <a:pPr marL="0" indent="0">
              <a:lnSpc>
                <a:spcPct val="160000"/>
              </a:lnSpc>
              <a:buNone/>
            </a:pPr>
            <a:endParaRPr lang="en-US" sz="1100" dirty="0"/>
          </a:p>
          <a:p>
            <a:pPr marL="0" indent="0">
              <a:lnSpc>
                <a:spcPct val="160000"/>
              </a:lnSpc>
              <a:buNone/>
            </a:pPr>
            <a:r>
              <a:rPr lang="en-US" sz="11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Statement of intent</a:t>
            </a:r>
            <a:endParaRPr lang="en-US" sz="1100" dirty="0"/>
          </a:p>
          <a:p>
            <a:pPr marL="0" indent="0">
              <a:lnSpc>
                <a:spcPct val="160000"/>
              </a:lnSpc>
              <a:buNone/>
            </a:pPr>
            <a:r>
              <a:rPr lang="en-US" sz="11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Remove duplicate letters</a:t>
            </a:r>
            <a:endParaRPr lang="en-US" sz="1100" dirty="0"/>
          </a:p>
          <a:p>
            <a:pPr marL="0" indent="0">
              <a:lnSpc>
                <a:spcPct val="160000"/>
              </a:lnSpc>
              <a:buNone/>
            </a:pPr>
            <a:r>
              <a:rPr lang="en-US" sz="11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Combine into symbol</a:t>
            </a:r>
            <a:endParaRPr lang="en-US" sz="1100" dirty="0"/>
          </a:p>
          <a:p>
            <a:pPr marL="0" indent="0">
              <a:lnSpc>
                <a:spcPct val="160000"/>
              </a:lnSpc>
              <a:buNone/>
            </a:pPr>
            <a:r>
              <a:rPr lang="en-US" sz="11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Capture as input</a:t>
            </a:r>
            <a:endParaRPr lang="en-US" sz="1100" dirty="0"/>
          </a:p>
        </p:txBody>
      </p:sp>
      <p:pic>
        <p:nvPicPr>
          <p:cNvPr id="6148" name="Picture 4" descr="Magical doodles">
            <a:extLst>
              <a:ext uri="{FF2B5EF4-FFF2-40B4-BE49-F238E27FC236}">
                <a16:creationId xmlns:a16="http://schemas.microsoft.com/office/drawing/2014/main" id="{23C771D3-C03B-CCC8-56EC-6868F19311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1520" y="1130218"/>
            <a:ext cx="4139583" cy="32259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1296860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kern="0" spc="100" dirty="0">
                <a:solidFill>
                  <a:srgbClr val="AAFF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// COLOR AS MAGICAL SUBSTANCE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731520" y="109728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C44C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CAUDA PAVONIS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31520" y="1508760"/>
            <a:ext cx="3840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Latin for "peacock’s tail”, in alchemy this is a momentary iridescence between albedo and rubedo in the stages of the alchemical Great Work. It represents all the colors prior to the final fixing of the </a:t>
            </a:r>
            <a:r>
              <a:rPr lang="en-US" sz="1200" dirty="0" err="1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rubedo</a:t>
            </a:r>
            <a:r>
              <a:rPr lang="en-US" sz="12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stage.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31520" y="260604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CC4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cycling hue mode references a computational cauda pavonis.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846320" y="1005840"/>
            <a:ext cx="3749040" cy="3108960"/>
          </a:xfrm>
          <a:prstGeom prst="rect">
            <a:avLst/>
          </a:prstGeom>
          <a:solidFill>
            <a:srgbClr val="161616"/>
          </a:solidFill>
          <a:ln/>
          <a:effectLst>
            <a:outerShdw blurRad="1016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4846320" y="1005840"/>
            <a:ext cx="64008" cy="3108960"/>
          </a:xfrm>
          <a:prstGeom prst="rect">
            <a:avLst/>
          </a:prstGeom>
          <a:solidFill>
            <a:srgbClr val="DD885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166360" y="109728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i="1" kern="0" spc="100" dirty="0">
                <a:solidFill>
                  <a:srgbClr val="DD8855"/>
                </a:solidFill>
                <a:latin typeface="Georgia" pitchFamily="34" charset="0"/>
              </a:rPr>
              <a:t>MUSICA UNIVERSALIS</a:t>
            </a:r>
            <a:r>
              <a:rPr lang="en-US" sz="1100" b="1" kern="0" spc="100" dirty="0">
                <a:solidFill>
                  <a:srgbClr val="DD8855"/>
                </a:solidFill>
                <a:latin typeface="Georgia" pitchFamily="34" charset="0"/>
              </a:rPr>
              <a:t> CORRESPONDENCES</a:t>
            </a:r>
            <a:endParaRPr lang="en-US" sz="1100" i="1" dirty="0"/>
          </a:p>
        </p:txBody>
      </p:sp>
      <p:sp>
        <p:nvSpPr>
          <p:cNvPr id="9" name="Text 7"/>
          <p:cNvSpPr/>
          <p:nvPr/>
        </p:nvSpPr>
        <p:spPr>
          <a:xfrm>
            <a:off x="5166360" y="146304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172200" y="14630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812280" y="146304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PLANET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166360" y="1792224"/>
            <a:ext cx="164592" cy="164592"/>
          </a:xfrm>
          <a:prstGeom prst="rect">
            <a:avLst/>
          </a:prstGeom>
          <a:solidFill>
            <a:srgbClr val="DD333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5394960" y="173736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172200" y="173736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AFF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812280" y="173736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166360" y="2066544"/>
            <a:ext cx="164592" cy="164592"/>
          </a:xfrm>
          <a:prstGeom prst="rect">
            <a:avLst/>
          </a:prstGeom>
          <a:solidFill>
            <a:srgbClr val="DD885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5394960" y="201168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Orange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172200" y="201168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AFF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812280" y="20116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166360" y="2340864"/>
            <a:ext cx="164592" cy="164592"/>
          </a:xfrm>
          <a:prstGeom prst="rect">
            <a:avLst/>
          </a:prstGeom>
          <a:solidFill>
            <a:srgbClr val="DDCC3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5394960" y="228600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Yellow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172200" y="228600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AFF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812280" y="228600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Venus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166360" y="2615184"/>
            <a:ext cx="164592" cy="164592"/>
          </a:xfrm>
          <a:prstGeom prst="rect">
            <a:avLst/>
          </a:prstGeom>
          <a:solidFill>
            <a:srgbClr val="44BB6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5394960" y="256032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172200" y="256032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AFF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812280" y="256032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Saturn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166360" y="2889504"/>
            <a:ext cx="164592" cy="164592"/>
          </a:xfrm>
          <a:prstGeom prst="rect">
            <a:avLst/>
          </a:prstGeom>
          <a:solidFill>
            <a:srgbClr val="4488D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5394960" y="28346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172200" y="28346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AFF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812280" y="283464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Jupiter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166360" y="3163824"/>
            <a:ext cx="164592" cy="164592"/>
          </a:xfrm>
          <a:prstGeom prst="rect">
            <a:avLst/>
          </a:prstGeom>
          <a:solidFill>
            <a:srgbClr val="6644A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5394960" y="310896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Indigo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172200" y="310896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AFF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6812280" y="310896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Mercury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5166360" y="3438144"/>
            <a:ext cx="164592" cy="164592"/>
          </a:xfrm>
          <a:prstGeom prst="rect">
            <a:avLst/>
          </a:prstGeom>
          <a:solidFill>
            <a:srgbClr val="9944C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5394960" y="338328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Violet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172200" y="338328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AFF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6812280" y="33832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Moon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731520" y="4251960"/>
            <a:ext cx="1920240" cy="457200"/>
          </a:xfrm>
          <a:prstGeom prst="rect">
            <a:avLst/>
          </a:prstGeom>
          <a:solidFill>
            <a:srgbClr val="1A1A1A"/>
          </a:solidFill>
          <a:ln w="635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731520" y="425196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kern="0" spc="2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NIGREDO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2770632" y="4251960"/>
            <a:ext cx="1920240" cy="457200"/>
          </a:xfrm>
          <a:prstGeom prst="rect">
            <a:avLst/>
          </a:prstGeom>
          <a:solidFill>
            <a:srgbClr val="E8E8E8"/>
          </a:solidFill>
          <a:ln w="635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41"/>
          <p:cNvSpPr/>
          <p:nvPr/>
        </p:nvSpPr>
        <p:spPr>
          <a:xfrm>
            <a:off x="2770632" y="425196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kern="0" spc="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ALBEDO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4809744" y="4251960"/>
            <a:ext cx="1920240" cy="457200"/>
          </a:xfrm>
          <a:prstGeom prst="rect">
            <a:avLst/>
          </a:prstGeom>
          <a:solidFill>
            <a:srgbClr val="D4A574"/>
          </a:solidFill>
          <a:ln w="635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45" name="Text 43"/>
          <p:cNvSpPr/>
          <p:nvPr/>
        </p:nvSpPr>
        <p:spPr>
          <a:xfrm>
            <a:off x="4809744" y="425196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kern="0" spc="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CAUDA PAVONIS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6848856" y="4251960"/>
            <a:ext cx="1920240" cy="457200"/>
          </a:xfrm>
          <a:prstGeom prst="rect">
            <a:avLst/>
          </a:prstGeom>
          <a:solidFill>
            <a:srgbClr val="CC3333"/>
          </a:solidFill>
          <a:ln w="635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45"/>
          <p:cNvSpPr/>
          <p:nvPr/>
        </p:nvSpPr>
        <p:spPr>
          <a:xfrm>
            <a:off x="6848856" y="425196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RUBEDO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kern="0" spc="100" dirty="0">
                <a:solidFill>
                  <a:srgbClr val="AAFF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// OPERATION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31520" y="1280160"/>
            <a:ext cx="1828800" cy="2743200"/>
          </a:xfrm>
          <a:prstGeom prst="rect">
            <a:avLst/>
          </a:prstGeom>
          <a:solidFill>
            <a:srgbClr val="161616"/>
          </a:solidFill>
          <a:ln/>
          <a:effectLst>
            <a:outerShdw blurRad="1016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731520" y="1280160"/>
            <a:ext cx="1828800" cy="64008"/>
          </a:xfrm>
          <a:prstGeom prst="rect">
            <a:avLst/>
          </a:prstGeom>
          <a:solidFill>
            <a:srgbClr val="CC44C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31520" y="150876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CC44C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68680" y="210312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E8E8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INTENTION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68680" y="2697480"/>
            <a:ext cx="1554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1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Formulate a desire and</a:t>
            </a:r>
            <a:endParaRPr lang="en-US" sz="110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1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it as a clear statement.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788920" y="1280160"/>
            <a:ext cx="1828800" cy="2743200"/>
          </a:xfrm>
          <a:prstGeom prst="rect">
            <a:avLst/>
          </a:prstGeom>
          <a:solidFill>
            <a:srgbClr val="161616"/>
          </a:solidFill>
          <a:ln/>
          <a:effectLst>
            <a:outerShdw blurRad="1016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2788920" y="1280160"/>
            <a:ext cx="1828800" cy="64008"/>
          </a:xfrm>
          <a:prstGeom prst="rect">
            <a:avLst/>
          </a:prstGeom>
          <a:solidFill>
            <a:srgbClr val="DD885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2788920" y="150876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DD885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2926080" y="210312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E8E8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SIGILIZATION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926080" y="2697480"/>
            <a:ext cx="1554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1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 the statement into</a:t>
            </a:r>
            <a:r>
              <a:rPr lang="en-US" sz="1100" dirty="0"/>
              <a:t> </a:t>
            </a:r>
            <a:r>
              <a:rPr lang="en-US" sz="11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visual symbol or glyph.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846320" y="1280160"/>
            <a:ext cx="1828800" cy="2743200"/>
          </a:xfrm>
          <a:prstGeom prst="rect">
            <a:avLst/>
          </a:prstGeom>
          <a:solidFill>
            <a:srgbClr val="161616"/>
          </a:solidFill>
          <a:ln/>
          <a:effectLst>
            <a:outerShdw blurRad="1016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4846320" y="1280160"/>
            <a:ext cx="1828800" cy="64008"/>
          </a:xfrm>
          <a:prstGeom prst="rect">
            <a:avLst/>
          </a:prstGeom>
          <a:solidFill>
            <a:srgbClr val="AAFF6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4846320" y="150876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AAFF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4983480" y="210312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E8E8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CODING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983480" y="2697480"/>
            <a:ext cx="1554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1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“Rescan” the sigil through the webcam and toolkit to operate on the image.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903720" y="1280160"/>
            <a:ext cx="1828800" cy="2743200"/>
          </a:xfrm>
          <a:prstGeom prst="rect">
            <a:avLst/>
          </a:prstGeom>
          <a:solidFill>
            <a:srgbClr val="161616"/>
          </a:solidFill>
          <a:ln/>
          <a:effectLst>
            <a:outerShdw blurRad="1016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6903720" y="1280160"/>
            <a:ext cx="1828800" cy="64008"/>
          </a:xfrm>
          <a:prstGeom prst="rect">
            <a:avLst/>
          </a:prstGeom>
          <a:solidFill>
            <a:srgbClr val="AAFFE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6903720" y="150876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AAFF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7040880" y="210312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E8E8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TRANSFORMED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kern="0" spc="100" dirty="0">
                <a:solidFill>
                  <a:srgbClr val="E8E8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IMAGE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7040880" y="2697480"/>
            <a:ext cx="1554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1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your output for use as a digital talisman.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kern="0" spc="100" dirty="0">
                <a:solidFill>
                  <a:srgbClr val="AAFF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// TOOLKIT — MODES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31520" y="1188720"/>
            <a:ext cx="7680960" cy="731520"/>
          </a:xfrm>
          <a:prstGeom prst="rect">
            <a:avLst/>
          </a:prstGeom>
          <a:solidFill>
            <a:srgbClr val="16161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731520" y="1188720"/>
            <a:ext cx="64008" cy="731520"/>
          </a:xfrm>
          <a:prstGeom prst="rect">
            <a:avLst/>
          </a:prstGeom>
          <a:solidFill>
            <a:srgbClr val="CC44C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51560" y="1188720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CC44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45920" y="118872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8E8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RAW FEED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749040" y="1188720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Unprocessed input. Frame your sigil.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solidFill>
            <a:srgbClr val="16161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731520" y="2103120"/>
            <a:ext cx="64008" cy="731520"/>
          </a:xfrm>
          <a:prstGeom prst="rect">
            <a:avLst/>
          </a:prstGeom>
          <a:solidFill>
            <a:srgbClr val="CC44C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1051560" y="2103120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CC44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645920" y="210312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8E8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THRESHOLD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749040" y="2103120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Binary black/white. The image becomes decisive.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31520" y="3017520"/>
            <a:ext cx="7680960" cy="731520"/>
          </a:xfrm>
          <a:prstGeom prst="rect">
            <a:avLst/>
          </a:prstGeom>
          <a:solidFill>
            <a:srgbClr val="16161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731520" y="3017520"/>
            <a:ext cx="64008" cy="731520"/>
          </a:xfrm>
          <a:prstGeom prst="rect">
            <a:avLst/>
          </a:prstGeom>
          <a:solidFill>
            <a:srgbClr val="CC44C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1051560" y="3017520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CC44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1645920" y="301752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8E8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NEWTONIAN HUE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749040" y="3017520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 + cycling color from Newton’s 7-tone spectrum.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731520" y="3931920"/>
            <a:ext cx="7680960" cy="731520"/>
          </a:xfrm>
          <a:prstGeom prst="rect">
            <a:avLst/>
          </a:prstGeom>
          <a:solidFill>
            <a:srgbClr val="16161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731520" y="3931920"/>
            <a:ext cx="64008" cy="731520"/>
          </a:xfrm>
          <a:prstGeom prst="rect">
            <a:avLst/>
          </a:prstGeom>
          <a:solidFill>
            <a:srgbClr val="CC44C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1051560" y="3931920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CC44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1645920" y="393192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8E8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RADIAL SYMMETRY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749040" y="3931920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Mandala-like mirroring. Sacred geometry on the sigil.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kern="0" spc="100" dirty="0">
                <a:solidFill>
                  <a:srgbClr val="AAFF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// TOOLKIT — CONTROLS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731520" y="109728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C44C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31520" y="150876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DD88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0 1 2 3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2286000" y="15087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mode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31520" y="192024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DD88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TAB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2286000" y="19202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Cycle active parameter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233172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DD88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UP / DOWN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286000" y="233172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Adjust active parameter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31520" y="274320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DD88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LEFT / RIGHT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286000" y="27432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Radial segments ± 2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31520" y="315468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DD88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286000" y="315468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Toggle invert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31520" y="356616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DD88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286000" y="35661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Cycle input source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31520" y="397764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DD88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286000" y="39776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frame as PNG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937760" y="1005840"/>
            <a:ext cx="3657600" cy="3566160"/>
          </a:xfrm>
          <a:prstGeom prst="rect">
            <a:avLst/>
          </a:prstGeom>
          <a:solidFill>
            <a:srgbClr val="161616"/>
          </a:solidFill>
          <a:ln/>
          <a:effectLst>
            <a:outerShdw blurRad="1016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4937760" y="1005840"/>
            <a:ext cx="64008" cy="3566160"/>
          </a:xfrm>
          <a:prstGeom prst="rect">
            <a:avLst/>
          </a:prstGeom>
          <a:solidFill>
            <a:srgbClr val="AAFF6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5257800" y="10972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AAFF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PARAMETERS  (TAB to select) + DEFAULTS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257800" y="150876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THRESHOLD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675120" y="150876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C44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0.70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7360920" y="150876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Brightness cutoff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5257800" y="196596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HUE SPEED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675120" y="196596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C44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0.020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360920" y="196596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 cycle rate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257800" y="242316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SATURATION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675120" y="242316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C44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80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7360920" y="242316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 intensity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5257800" y="288036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COLOR LOCK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675120" y="288036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C44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CYCLE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7360920" y="288036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 to one color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257800" y="333756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ROT SPEED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675120" y="333756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C44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0.010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7360920" y="333756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Radial rotation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257800" y="379476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8E8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ZOOM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675120" y="379476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C44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1.00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7360920" y="379476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Radial zoom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kern="0" spc="100" dirty="0">
                <a:solidFill>
                  <a:srgbClr val="AAFF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// REFLECTION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731520" y="109728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CC44C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OWNERSHIP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2834640" y="1097280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the sigil ever stop feeling like "yours"? When?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31520" y="1691640"/>
            <a:ext cx="7680960" cy="0"/>
          </a:xfrm>
          <a:prstGeom prst="line">
            <a:avLst/>
          </a:prstGeom>
          <a:noFill/>
          <a:ln w="6350">
            <a:solidFill>
              <a:srgbClr val="2A2A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31520" y="182880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CC44C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FORGETTING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834640" y="1828800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parameter-tweaking displace your focus from the original intention?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731520" y="2423160"/>
            <a:ext cx="7680960" cy="0"/>
          </a:xfrm>
          <a:prstGeom prst="line">
            <a:avLst/>
          </a:prstGeom>
          <a:noFill/>
          <a:ln w="6350">
            <a:solidFill>
              <a:srgbClr val="2A2A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31520" y="256032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CC44C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RITUAL &amp; RUPTURE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2834640" y="2560320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computation an extension of a ritual, or a break from it?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31520" y="3154680"/>
            <a:ext cx="7680960" cy="0"/>
          </a:xfrm>
          <a:prstGeom prst="line">
            <a:avLst/>
          </a:prstGeom>
          <a:noFill/>
          <a:ln w="6350">
            <a:solidFill>
              <a:srgbClr val="2A2A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731520" y="329184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CC44C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AUTHORSHIP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834640" y="3291840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is authorship: intention, hand, algorithm, or machine?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31520" y="3886200"/>
            <a:ext cx="7680960" cy="0"/>
          </a:xfrm>
          <a:prstGeom prst="line">
            <a:avLst/>
          </a:prstGeom>
          <a:noFill/>
          <a:ln w="6350">
            <a:solidFill>
              <a:srgbClr val="2A2A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731520" y="402336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CC44C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2834640" y="4023360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the computational step extend human faculty or overwrite human faculty?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C44C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31520" y="45720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kern="0" spc="100" dirty="0">
                <a:solidFill>
                  <a:srgbClr val="AAFF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// SUGGESTED READINGS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7680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Florian Cramer, Words Made Flesh (2005)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680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Wendy Chun, Programmed Visions (2011)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31520" y="2468880"/>
            <a:ext cx="7680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Austin Osman Spare, The Book of Pleasure (1913)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31520" y="3017520"/>
            <a:ext cx="7680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Phil Hine, Condensed Chaos (1995)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6161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31520" y="4754880"/>
            <a:ext cx="7680960" cy="3886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kern="0" spc="2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TECHNOMANTIC CODING WORKSHOP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114</TotalTime>
  <Words>935</Words>
  <Application>Microsoft Macintosh PowerPoint</Application>
  <PresentationFormat>On-screen Show (16:9)</PresentationFormat>
  <Paragraphs>204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1" baseType="lpstr">
      <vt:lpstr>Arial</vt:lpstr>
      <vt:lpstr>Calibri</vt:lpstr>
      <vt:lpstr>Consolas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Technomantic Coding Workshop</dc:title>
  <dc:subject>PptxGenJS Presentation</dc:subject>
  <dc:creator>Alan Perry</dc:creator>
  <cp:lastModifiedBy>Alan Perry</cp:lastModifiedBy>
  <cp:revision>5</cp:revision>
  <dcterms:created xsi:type="dcterms:W3CDTF">2026-03-06T12:55:16Z</dcterms:created>
  <dcterms:modified xsi:type="dcterms:W3CDTF">2026-03-06T17:58:13Z</dcterms:modified>
</cp:coreProperties>
</file>